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71C1F9-B8CD-4878-AAA1-6CD565D362FE}" v="745" dt="2026-09-10T07:14:46.49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672722" y="2567914"/>
            <a:ext cx="3400089" cy="861497"/>
          </a:xfrm>
        </p:spPr>
        <p:txBody>
          <a:bodyPr vert="horz" lIns="91440" tIns="45720" rIns="91440" bIns="45720" rtlCol="0" anchor="t">
            <a:normAutofit/>
          </a:bodyPr>
          <a:lstStyle/>
          <a:p>
            <a:pPr algn="ctr"/>
            <a:r>
              <a:rPr lang="en-US" sz="1400" b="0" dirty="0">
                <a:solidFill>
                  <a:schemeClr val="tx1"/>
                </a:solidFill>
              </a:rPr>
              <a:t>Vikash Chauhan</a:t>
            </a:r>
            <a:endParaRPr lang="en-IN" sz="1400" b="0" dirty="0">
              <a:solidFill>
                <a:schemeClr val="tx1"/>
              </a:solidFill>
            </a:endParaRPr>
          </a:p>
          <a:p>
            <a:pPr algn="ctr"/>
            <a:r>
              <a:rPr lang="en-US" sz="1400" b="0" dirty="0">
                <a:solidFill>
                  <a:schemeClr val="tx1"/>
                </a:solidFill>
              </a:rPr>
              <a:t>Rajju Shroff Rofel University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404303" y="1343841"/>
            <a:ext cx="4998720" cy="1128296"/>
          </a:xfrm>
        </p:spPr>
        <p:txBody>
          <a:bodyPr>
            <a:normAutofit/>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581067" y="3653028"/>
            <a:ext cx="3692972" cy="646331"/>
          </a:xfrm>
          <a:prstGeom prst="rect">
            <a:avLst/>
          </a:prstGeom>
          <a:noFill/>
        </p:spPr>
        <p:txBody>
          <a:bodyPr wrap="square" rtlCol="0">
            <a:spAutoFit/>
          </a:bodyPr>
          <a:lstStyle/>
          <a:p>
            <a:r>
              <a:rPr lang="en-US" b="1" dirty="0"/>
              <a:t>AICTE STU ID : STU696074fe214c21767929086</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wrap="square" lIns="91440" tIns="45720" rIns="91440" bIns="45720" rtlCol="0" anchor="t">
            <a:normAutofit lnSpcReduction="10000"/>
          </a:bodyPr>
          <a:lstStyle/>
          <a:p>
            <a:r>
              <a:rPr lang="en-IN" sz="1500" dirty="0"/>
              <a:t>Seasonal variations can influence different aspects of agricultural activities and performance.</a:t>
            </a:r>
            <a:endParaRPr lang="en-IN" sz="1500" dirty="0">
              <a:solidFill>
                <a:srgbClr val="000000"/>
              </a:solidFill>
            </a:endParaRPr>
          </a:p>
          <a:p>
            <a:r>
              <a:rPr lang="en-IN" sz="1500" dirty="0"/>
              <a:t>Understanding seasonal patterns through data analytics can help stakeholders:</a:t>
            </a:r>
            <a:endParaRPr lang="en-IN" sz="1500" dirty="0">
              <a:solidFill>
                <a:srgbClr val="000000"/>
              </a:solidFill>
            </a:endParaRPr>
          </a:p>
          <a:p>
            <a:r>
              <a:rPr lang="en-IN" sz="1500" dirty="0"/>
              <a:t> Understand variations in agricultural performance</a:t>
            </a:r>
            <a:endParaRPr lang="en-IN" sz="1500" dirty="0">
              <a:solidFill>
                <a:srgbClr val="000000"/>
              </a:solidFill>
            </a:endParaRPr>
          </a:p>
          <a:p>
            <a:r>
              <a:rPr lang="en-IN" sz="1500" dirty="0"/>
              <a:t> Identify important seasonal trends</a:t>
            </a:r>
            <a:endParaRPr lang="en-IN" sz="1500" dirty="0">
              <a:solidFill>
                <a:srgbClr val="000000"/>
              </a:solidFill>
            </a:endParaRPr>
          </a:p>
          <a:p>
            <a:r>
              <a:rPr lang="en-IN" sz="1500" dirty="0"/>
              <a:t> Compare performance across different periods</a:t>
            </a:r>
            <a:endParaRPr lang="en-IN" sz="1500" dirty="0">
              <a:solidFill>
                <a:srgbClr val="000000"/>
              </a:solidFill>
            </a:endParaRPr>
          </a:p>
          <a:p>
            <a:r>
              <a:rPr lang="en-IN" sz="1500" dirty="0"/>
              <a:t> Understand changing environmental conditions</a:t>
            </a:r>
            <a:endParaRPr lang="en-IN" sz="1500" dirty="0">
              <a:solidFill>
                <a:srgbClr val="000000"/>
              </a:solidFill>
            </a:endParaRPr>
          </a:p>
          <a:p>
            <a:r>
              <a:rPr lang="en-IN" sz="1500" dirty="0"/>
              <a:t> Examine differences in resource usage</a:t>
            </a:r>
            <a:endParaRPr lang="en-IN" sz="1500" dirty="0">
              <a:solidFill>
                <a:srgbClr val="000000"/>
              </a:solidFill>
            </a:endParaRPr>
          </a:p>
          <a:p>
            <a:r>
              <a:rPr lang="en-IN" sz="1500" dirty="0"/>
              <a:t> Identify areas requiring further investigation</a:t>
            </a:r>
            <a:endParaRPr lang="en-IN" sz="1500" dirty="0">
              <a:solidFill>
                <a:srgbClr val="000000"/>
              </a:solidFill>
            </a:endParaRPr>
          </a:p>
          <a:p>
            <a:pPr>
              <a:lnSpc>
                <a:spcPct val="150000"/>
              </a:lnSpc>
            </a:pPr>
            <a:r>
              <a:rPr lang="en-IN" sz="1500" dirty="0"/>
              <a:t> Support evidence-based agricultural planning</a:t>
            </a:r>
            <a:endParaRPr lang="en-IN" sz="1500" dirty="0">
              <a:solidFill>
                <a:srgbClr val="000000"/>
              </a:solidFill>
            </a:endParaRPr>
          </a:p>
          <a:p>
            <a:pPr>
              <a:lnSpc>
                <a:spcPct val="150000"/>
              </a:lnSpc>
            </a:pPr>
            <a:endParaRPr sz="20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3313" y="966654"/>
            <a:ext cx="6056552" cy="4927944"/>
          </a:xfrm>
        </p:spPr>
        <p:txBody>
          <a:bodyPr wrap="square">
            <a:normAutofit fontScale="90000"/>
          </a:bodyPr>
          <a:lstStyle/>
          <a:p>
            <a:r>
              <a:rPr lang="en-GB" sz="2000" b="1" dirty="0"/>
              <a:t>Project Description</a:t>
            </a:r>
            <a:br>
              <a:rPr lang="en-GB" dirty="0"/>
            </a:br>
            <a:br>
              <a:rPr lang="en-GB" sz="1600" b="0" dirty="0">
                <a:latin typeface="Book Antiqua"/>
                <a:cs typeface="Arial"/>
              </a:rPr>
            </a:br>
            <a:r>
              <a:rPr lang="en-GB" sz="2000" b="0" dirty="0">
                <a:latin typeface="Book Antiqua"/>
                <a:cs typeface="Arial"/>
              </a:rPr>
              <a:t>This project analysis 4000 farm-level agricultural records across 8 Indian states, 8 crops, and 3 seasons (Kharif, Rabi, and Zaid). The analysis examines key performance indicators such as yield, production, revenue, profit, ROI, water usage, and water efficiency. Using Python libraries including Pandas, NumPy, Matplotlib, Seaborn the project performs the project performs data cleaning, exploratory data analysis, statistical analysis, seasonal comparison and correlation analysis to identify meaningful patterns, relationships, and seasonal differences. The findings are used to generate  data-driven insights and recommendations for improved agricultural planning and resource management.</a:t>
            </a:r>
            <a:br>
              <a:rPr lang="en-GB" sz="1600" dirty="0">
                <a:latin typeface="Book Antiqua"/>
                <a:cs typeface="Arial"/>
              </a:rPr>
            </a:br>
            <a:endParaRPr lang="en-IN" sz="1600">
              <a:latin typeface="Book Antiqua"/>
              <a:cs typeface="Arial"/>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wrap="square">
            <a:normAutofit/>
          </a:bodyPr>
          <a:lstStyle/>
          <a:p>
            <a:pPr algn="just">
              <a:lnSpc>
                <a:spcPct val="150000"/>
              </a:lnSpc>
            </a:pPr>
            <a:r>
              <a:rPr sz="2000"/>
              <a:t>Farmers and farmer cooperatives planning crop and irrigation choices by season</a:t>
            </a:r>
            <a:endParaRPr lang="en-IN" sz="3600" dirty="0"/>
          </a:p>
          <a:p>
            <a:r>
              <a:rPr sz="2000"/>
              <a:t>State agriculture departments and policy makers designing seasonal support schemes</a:t>
            </a:r>
          </a:p>
          <a:p>
            <a:r>
              <a:rPr sz="2000"/>
              <a:t>Agri-fintech and insurance providers assessing seasonal risk and profitability</a:t>
            </a:r>
          </a:p>
          <a:p>
            <a:r>
              <a:rPr sz="2000"/>
              <a:t>Researchers and agricultural extension officers studying seasonal performance patterns</a:t>
            </a:r>
          </a:p>
          <a:p>
            <a:r>
              <a:rPr sz="2000"/>
              <a:t>Students and analysts learning applied agricultural data analytics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vert="horz" wrap="square" lIns="91440" tIns="45720" rIns="91440" bIns="45720" rtlCol="0" anchor="t">
            <a:normAutofit/>
          </a:bodyPr>
          <a:lstStyle/>
          <a:p>
            <a:pPr lvl="1">
              <a:lnSpc>
                <a:spcPct val="150000"/>
              </a:lnSpc>
            </a:pPr>
            <a:r>
              <a:rPr sz="2000" dirty="0"/>
              <a:t>Python 3 — core programming language</a:t>
            </a:r>
            <a:endParaRPr lang="en-IN" dirty="0"/>
          </a:p>
          <a:p>
            <a:r>
              <a:rPr sz="2000" dirty="0"/>
              <a:t>Pandas</a:t>
            </a:r>
            <a:r>
              <a:rPr lang="en-US" dirty="0"/>
              <a:t> and</a:t>
            </a:r>
            <a:r>
              <a:rPr sz="2000" dirty="0"/>
              <a:t> NumPy — data loading, cleaning and aggregation</a:t>
            </a:r>
          </a:p>
          <a:p>
            <a:r>
              <a:rPr sz="2000" dirty="0"/>
              <a:t>Matplotlib</a:t>
            </a:r>
            <a:r>
              <a:rPr lang="en-US" dirty="0"/>
              <a:t> and </a:t>
            </a:r>
            <a:r>
              <a:rPr sz="2000" dirty="0"/>
              <a:t>Seaborn — univariate, bivariate and multivariate visualizations</a:t>
            </a:r>
          </a:p>
          <a:p>
            <a:r>
              <a:rPr sz="2000" dirty="0"/>
              <a:t>Jupyter Notebook — analysis environment</a:t>
            </a:r>
          </a:p>
          <a:p>
            <a:r>
              <a:rPr sz="2000" dirty="0"/>
              <a:t>No Machine Learning or dashboard tools used — pure data analytics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177693"/>
            <a:ext cx="4518047" cy="432248"/>
          </a:xfrm>
        </p:spPr>
        <p:txBody>
          <a:bodyPr vert="horz" lIns="91440" tIns="45720" rIns="91440" bIns="45720" rtlCol="0" anchor="t">
            <a:normAutofit/>
          </a:bodyPr>
          <a:lstStyle/>
          <a:p>
            <a:pPr marL="0" indent="0">
              <a:buNone/>
            </a:pPr>
            <a:r>
              <a:rPr lang="en-US" sz="1400" b="1" dirty="0"/>
              <a:t>Dataset Overview</a:t>
            </a:r>
          </a:p>
        </p:txBody>
      </p:sp>
      <p:pic>
        <p:nvPicPr>
          <p:cNvPr id="2" name="Picture 1">
            <a:extLst>
              <a:ext uri="{FF2B5EF4-FFF2-40B4-BE49-F238E27FC236}">
                <a16:creationId xmlns:a16="http://schemas.microsoft.com/office/drawing/2014/main" id="{FEDFCC90-2935-94F9-A560-F5DBDFB24937}"/>
              </a:ext>
            </a:extLst>
          </p:cNvPr>
          <p:cNvPicPr>
            <a:picLocks noChangeAspect="1"/>
          </p:cNvPicPr>
          <p:nvPr/>
        </p:nvPicPr>
        <p:blipFill>
          <a:blip r:embed="rId3"/>
          <a:stretch>
            <a:fillRect/>
          </a:stretch>
        </p:blipFill>
        <p:spPr>
          <a:xfrm>
            <a:off x="326576" y="3648363"/>
            <a:ext cx="4796303" cy="2424548"/>
          </a:xfrm>
          <a:prstGeom prst="rect">
            <a:avLst/>
          </a:prstGeom>
        </p:spPr>
      </p:pic>
      <p:pic>
        <p:nvPicPr>
          <p:cNvPr id="3" name="Picture 2">
            <a:extLst>
              <a:ext uri="{FF2B5EF4-FFF2-40B4-BE49-F238E27FC236}">
                <a16:creationId xmlns:a16="http://schemas.microsoft.com/office/drawing/2014/main" id="{D313FB5F-E1C6-6FF1-A55F-1D05BC2F5EF9}"/>
              </a:ext>
            </a:extLst>
          </p:cNvPr>
          <p:cNvPicPr>
            <a:picLocks noChangeAspect="1"/>
          </p:cNvPicPr>
          <p:nvPr/>
        </p:nvPicPr>
        <p:blipFill>
          <a:blip r:embed="rId4"/>
          <a:stretch>
            <a:fillRect/>
          </a:stretch>
        </p:blipFill>
        <p:spPr>
          <a:xfrm>
            <a:off x="5264727" y="1609369"/>
            <a:ext cx="4849092" cy="2307686"/>
          </a:xfrm>
          <a:prstGeom prst="rect">
            <a:avLst/>
          </a:prstGeom>
        </p:spPr>
      </p:pic>
      <p:pic>
        <p:nvPicPr>
          <p:cNvPr id="6" name="Picture 5">
            <a:extLst>
              <a:ext uri="{FF2B5EF4-FFF2-40B4-BE49-F238E27FC236}">
                <a16:creationId xmlns:a16="http://schemas.microsoft.com/office/drawing/2014/main" id="{1DABC4F7-6718-EFE7-7DB1-1118518C4678}"/>
              </a:ext>
            </a:extLst>
          </p:cNvPr>
          <p:cNvPicPr>
            <a:picLocks noChangeAspect="1"/>
          </p:cNvPicPr>
          <p:nvPr/>
        </p:nvPicPr>
        <p:blipFill>
          <a:blip r:embed="rId5"/>
          <a:stretch>
            <a:fillRect/>
          </a:stretch>
        </p:blipFill>
        <p:spPr>
          <a:xfrm>
            <a:off x="5133240" y="3917753"/>
            <a:ext cx="4996614" cy="2132067"/>
          </a:xfrm>
          <a:prstGeom prst="rect">
            <a:avLst/>
          </a:prstGeom>
        </p:spPr>
      </p:pic>
      <p:pic>
        <p:nvPicPr>
          <p:cNvPr id="9" name="Picture 8">
            <a:extLst>
              <a:ext uri="{FF2B5EF4-FFF2-40B4-BE49-F238E27FC236}">
                <a16:creationId xmlns:a16="http://schemas.microsoft.com/office/drawing/2014/main" id="{AEA4E768-F9EC-D09C-6C8E-C82E88FCBBA9}"/>
              </a:ext>
            </a:extLst>
          </p:cNvPr>
          <p:cNvPicPr>
            <a:picLocks noChangeAspect="1"/>
          </p:cNvPicPr>
          <p:nvPr/>
        </p:nvPicPr>
        <p:blipFill>
          <a:blip r:embed="rId6"/>
          <a:stretch>
            <a:fillRect/>
          </a:stretch>
        </p:blipFill>
        <p:spPr>
          <a:xfrm>
            <a:off x="326745" y="1593271"/>
            <a:ext cx="4788271" cy="203200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US" sz="1400" b="1" dirty="0"/>
              <a:t>Seasonal Comparison</a:t>
            </a:r>
          </a:p>
        </p:txBody>
      </p:sp>
      <p:pic>
        <p:nvPicPr>
          <p:cNvPr id="3" name="Picture 2">
            <a:extLst>
              <a:ext uri="{FF2B5EF4-FFF2-40B4-BE49-F238E27FC236}">
                <a16:creationId xmlns:a16="http://schemas.microsoft.com/office/drawing/2014/main" id="{56F5B145-1873-A0DD-A417-245E8CC74F89}"/>
              </a:ext>
            </a:extLst>
          </p:cNvPr>
          <p:cNvPicPr>
            <a:picLocks noChangeAspect="1"/>
          </p:cNvPicPr>
          <p:nvPr/>
        </p:nvPicPr>
        <p:blipFill>
          <a:blip r:embed="rId3"/>
          <a:stretch>
            <a:fillRect/>
          </a:stretch>
        </p:blipFill>
        <p:spPr>
          <a:xfrm>
            <a:off x="677333" y="1932957"/>
            <a:ext cx="3863880" cy="2014572"/>
          </a:xfrm>
          <a:prstGeom prst="rect">
            <a:avLst/>
          </a:prstGeom>
        </p:spPr>
      </p:pic>
      <p:pic>
        <p:nvPicPr>
          <p:cNvPr id="6" name="Picture 5">
            <a:extLst>
              <a:ext uri="{FF2B5EF4-FFF2-40B4-BE49-F238E27FC236}">
                <a16:creationId xmlns:a16="http://schemas.microsoft.com/office/drawing/2014/main" id="{67741F22-75DD-4E52-75E3-F20FF53A3D13}"/>
              </a:ext>
            </a:extLst>
          </p:cNvPr>
          <p:cNvPicPr>
            <a:picLocks noChangeAspect="1"/>
          </p:cNvPicPr>
          <p:nvPr/>
        </p:nvPicPr>
        <p:blipFill>
          <a:blip r:embed="rId4"/>
          <a:stretch>
            <a:fillRect/>
          </a:stretch>
        </p:blipFill>
        <p:spPr>
          <a:xfrm>
            <a:off x="8435879" y="1823607"/>
            <a:ext cx="3609881" cy="2117817"/>
          </a:xfrm>
          <a:prstGeom prst="rect">
            <a:avLst/>
          </a:prstGeom>
        </p:spPr>
      </p:pic>
      <p:pic>
        <p:nvPicPr>
          <p:cNvPr id="9" name="Picture 8">
            <a:extLst>
              <a:ext uri="{FF2B5EF4-FFF2-40B4-BE49-F238E27FC236}">
                <a16:creationId xmlns:a16="http://schemas.microsoft.com/office/drawing/2014/main" id="{6DA8C591-9206-F9CC-4497-006C142493EC}"/>
              </a:ext>
            </a:extLst>
          </p:cNvPr>
          <p:cNvPicPr>
            <a:picLocks noChangeAspect="1"/>
          </p:cNvPicPr>
          <p:nvPr/>
        </p:nvPicPr>
        <p:blipFill>
          <a:blip r:embed="rId5"/>
          <a:stretch>
            <a:fillRect/>
          </a:stretch>
        </p:blipFill>
        <p:spPr>
          <a:xfrm>
            <a:off x="1085273" y="3956466"/>
            <a:ext cx="5003034" cy="2377922"/>
          </a:xfrm>
          <a:prstGeom prst="rect">
            <a:avLst/>
          </a:prstGeom>
        </p:spPr>
      </p:pic>
      <p:pic>
        <p:nvPicPr>
          <p:cNvPr id="11" name="Picture 10">
            <a:extLst>
              <a:ext uri="{FF2B5EF4-FFF2-40B4-BE49-F238E27FC236}">
                <a16:creationId xmlns:a16="http://schemas.microsoft.com/office/drawing/2014/main" id="{F2ABBCB1-D62F-01D3-D9CD-472E242D9583}"/>
              </a:ext>
            </a:extLst>
          </p:cNvPr>
          <p:cNvPicPr>
            <a:picLocks noChangeAspect="1"/>
          </p:cNvPicPr>
          <p:nvPr/>
        </p:nvPicPr>
        <p:blipFill>
          <a:blip r:embed="rId6"/>
          <a:stretch>
            <a:fillRect/>
          </a:stretch>
        </p:blipFill>
        <p:spPr>
          <a:xfrm>
            <a:off x="6242243" y="3941423"/>
            <a:ext cx="5334000" cy="2377212"/>
          </a:xfrm>
          <a:prstGeom prst="rect">
            <a:avLst/>
          </a:prstGeom>
        </p:spPr>
      </p:pic>
      <p:pic>
        <p:nvPicPr>
          <p:cNvPr id="12" name="Picture 11">
            <a:extLst>
              <a:ext uri="{FF2B5EF4-FFF2-40B4-BE49-F238E27FC236}">
                <a16:creationId xmlns:a16="http://schemas.microsoft.com/office/drawing/2014/main" id="{24E7FA0C-70B7-AFFF-E227-DF625E3F8462}"/>
              </a:ext>
            </a:extLst>
          </p:cNvPr>
          <p:cNvPicPr>
            <a:picLocks noChangeAspect="1"/>
          </p:cNvPicPr>
          <p:nvPr/>
        </p:nvPicPr>
        <p:blipFill>
          <a:blip r:embed="rId7"/>
          <a:stretch>
            <a:fillRect/>
          </a:stretch>
        </p:blipFill>
        <p:spPr>
          <a:xfrm>
            <a:off x="4541212" y="1823959"/>
            <a:ext cx="3863880" cy="226335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sz="1400" b="1" dirty="0"/>
              <a:t>Crop x Season Yield and State x Season Profit</a:t>
            </a:r>
            <a:endParaRPr lang="en-IN" dirty="0"/>
          </a:p>
        </p:txBody>
      </p:sp>
      <p:pic>
        <p:nvPicPr>
          <p:cNvPr id="2" name="Picture 1">
            <a:extLst>
              <a:ext uri="{FF2B5EF4-FFF2-40B4-BE49-F238E27FC236}">
                <a16:creationId xmlns:a16="http://schemas.microsoft.com/office/drawing/2014/main" id="{1DD3599B-A280-355A-8A59-E8CEECD029C8}"/>
              </a:ext>
            </a:extLst>
          </p:cNvPr>
          <p:cNvPicPr>
            <a:picLocks noChangeAspect="1"/>
          </p:cNvPicPr>
          <p:nvPr/>
        </p:nvPicPr>
        <p:blipFill>
          <a:blip r:embed="rId3"/>
          <a:stretch>
            <a:fillRect/>
          </a:stretch>
        </p:blipFill>
        <p:spPr>
          <a:xfrm>
            <a:off x="174789" y="1690594"/>
            <a:ext cx="5859008" cy="4763445"/>
          </a:xfrm>
          <a:prstGeom prst="rect">
            <a:avLst/>
          </a:prstGeom>
        </p:spPr>
      </p:pic>
      <p:pic>
        <p:nvPicPr>
          <p:cNvPr id="3" name="Picture 2">
            <a:extLst>
              <a:ext uri="{FF2B5EF4-FFF2-40B4-BE49-F238E27FC236}">
                <a16:creationId xmlns:a16="http://schemas.microsoft.com/office/drawing/2014/main" id="{8A2605A8-5C56-6275-BDC8-C54AE6B56E14}"/>
              </a:ext>
            </a:extLst>
          </p:cNvPr>
          <p:cNvPicPr>
            <a:picLocks noChangeAspect="1"/>
          </p:cNvPicPr>
          <p:nvPr/>
        </p:nvPicPr>
        <p:blipFill>
          <a:blip r:embed="rId4"/>
          <a:stretch>
            <a:fillRect/>
          </a:stretch>
        </p:blipFill>
        <p:spPr>
          <a:xfrm>
            <a:off x="6004788" y="1615514"/>
            <a:ext cx="5764814" cy="426079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sz="1400" b="1" dirty="0"/>
              <a:t>Correlation Heatmap of Numeric Variables</a:t>
            </a:r>
            <a:endParaRPr lang="en-IN" dirty="0"/>
          </a:p>
        </p:txBody>
      </p:sp>
      <p:pic>
        <p:nvPicPr>
          <p:cNvPr id="2" name="Picture 1">
            <a:extLst>
              <a:ext uri="{FF2B5EF4-FFF2-40B4-BE49-F238E27FC236}">
                <a16:creationId xmlns:a16="http://schemas.microsoft.com/office/drawing/2014/main" id="{960A35A5-779B-6BA7-DE48-C0FA26DAC797}"/>
              </a:ext>
            </a:extLst>
          </p:cNvPr>
          <p:cNvPicPr>
            <a:picLocks noChangeAspect="1"/>
          </p:cNvPicPr>
          <p:nvPr/>
        </p:nvPicPr>
        <p:blipFill>
          <a:blip r:embed="rId3"/>
          <a:stretch>
            <a:fillRect/>
          </a:stretch>
        </p:blipFill>
        <p:spPr>
          <a:xfrm>
            <a:off x="1085589" y="1701030"/>
            <a:ext cx="8019610" cy="431030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US" sz="1400" b="1" dirty="0"/>
              <a:t>Profit &amp; Loss-Making Farms by Season</a:t>
            </a:r>
          </a:p>
        </p:txBody>
      </p:sp>
      <p:pic>
        <p:nvPicPr>
          <p:cNvPr id="2" name="Picture 1">
            <a:extLst>
              <a:ext uri="{FF2B5EF4-FFF2-40B4-BE49-F238E27FC236}">
                <a16:creationId xmlns:a16="http://schemas.microsoft.com/office/drawing/2014/main" id="{28558185-FC5E-97F2-BFF8-B4F364350658}"/>
              </a:ext>
            </a:extLst>
          </p:cNvPr>
          <p:cNvPicPr>
            <a:picLocks noChangeAspect="1"/>
          </p:cNvPicPr>
          <p:nvPr/>
        </p:nvPicPr>
        <p:blipFill>
          <a:blip r:embed="rId3"/>
          <a:stretch>
            <a:fillRect/>
          </a:stretch>
        </p:blipFill>
        <p:spPr>
          <a:xfrm>
            <a:off x="323754" y="1938394"/>
            <a:ext cx="4615003" cy="2094819"/>
          </a:xfrm>
          <a:prstGeom prst="rect">
            <a:avLst/>
          </a:prstGeom>
        </p:spPr>
      </p:pic>
      <p:pic>
        <p:nvPicPr>
          <p:cNvPr id="3" name="Picture 2">
            <a:extLst>
              <a:ext uri="{FF2B5EF4-FFF2-40B4-BE49-F238E27FC236}">
                <a16:creationId xmlns:a16="http://schemas.microsoft.com/office/drawing/2014/main" id="{E97AD88D-0F74-0D60-7F20-9BBF968C5AD9}"/>
              </a:ext>
            </a:extLst>
          </p:cNvPr>
          <p:cNvPicPr>
            <a:picLocks noChangeAspect="1"/>
          </p:cNvPicPr>
          <p:nvPr/>
        </p:nvPicPr>
        <p:blipFill>
          <a:blip r:embed="rId4"/>
          <a:stretch>
            <a:fillRect/>
          </a:stretch>
        </p:blipFill>
        <p:spPr>
          <a:xfrm>
            <a:off x="5192933" y="1938397"/>
            <a:ext cx="4618526" cy="2093577"/>
          </a:xfrm>
          <a:prstGeom prst="rect">
            <a:avLst/>
          </a:prstGeom>
        </p:spPr>
      </p:pic>
      <p:pic>
        <p:nvPicPr>
          <p:cNvPr id="6" name="Picture 5">
            <a:extLst>
              <a:ext uri="{FF2B5EF4-FFF2-40B4-BE49-F238E27FC236}">
                <a16:creationId xmlns:a16="http://schemas.microsoft.com/office/drawing/2014/main" id="{33877419-0101-BF2D-FDF1-7723D313303E}"/>
              </a:ext>
            </a:extLst>
          </p:cNvPr>
          <p:cNvPicPr>
            <a:picLocks noChangeAspect="1"/>
          </p:cNvPicPr>
          <p:nvPr/>
        </p:nvPicPr>
        <p:blipFill>
          <a:blip r:embed="rId5"/>
          <a:stretch>
            <a:fillRect/>
          </a:stretch>
        </p:blipFill>
        <p:spPr>
          <a:xfrm>
            <a:off x="467132" y="4025518"/>
            <a:ext cx="4482184" cy="2293695"/>
          </a:xfrm>
          <a:prstGeom prst="rect">
            <a:avLst/>
          </a:prstGeom>
        </p:spPr>
      </p:pic>
      <p:pic>
        <p:nvPicPr>
          <p:cNvPr id="9" name="Picture 8">
            <a:extLst>
              <a:ext uri="{FF2B5EF4-FFF2-40B4-BE49-F238E27FC236}">
                <a16:creationId xmlns:a16="http://schemas.microsoft.com/office/drawing/2014/main" id="{D8705E50-7B88-7CB5-20B1-0D378292AB02}"/>
              </a:ext>
            </a:extLst>
          </p:cNvPr>
          <p:cNvPicPr>
            <a:picLocks noChangeAspect="1"/>
          </p:cNvPicPr>
          <p:nvPr/>
        </p:nvPicPr>
        <p:blipFill>
          <a:blip r:embed="rId6"/>
          <a:stretch>
            <a:fillRect/>
          </a:stretch>
        </p:blipFill>
        <p:spPr>
          <a:xfrm>
            <a:off x="5078499" y="4019532"/>
            <a:ext cx="4714464" cy="2298875"/>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799109" y="578407"/>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798194" y="1410918"/>
            <a:ext cx="6210746" cy="1880109"/>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600"/>
              <a:t>Extend to a multi-year time series to study year-over-year and climate-change effects</a:t>
            </a:r>
            <a:endParaRPr lang="en-GB" sz="2000" dirty="0"/>
          </a:p>
          <a:p>
            <a:r>
              <a:rPr sz="1600"/>
              <a:t>Incorporate market/mandi price data at finer granularity for cost-benefit modelling</a:t>
            </a:r>
          </a:p>
          <a:p>
            <a:r>
              <a:rPr sz="1600"/>
              <a:t>Build a predictive (ML) model for yield/profit once causal drivers are validated</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938349" y="3296543"/>
            <a:ext cx="6075137" cy="1789704"/>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600"/>
              <a:t>Add district-level granularity to refine the state-season findings</a:t>
            </a:r>
            <a:endParaRPr lang="en-GB" sz="2000" dirty="0"/>
          </a:p>
          <a:p>
            <a:r>
              <a:rPr sz="1600"/>
              <a:t>Develop an interactive dashboard for real-time seasonal monitoring</a:t>
            </a:r>
          </a:p>
          <a:p>
            <a:r>
              <a:rPr sz="1600"/>
              <a:t>Study Drip vs Rainfed irrigation trade-off with a controlled field study</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441623"/>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424304" y="1456185"/>
            <a:ext cx="5242103" cy="704823"/>
          </a:xfrm>
          <a:prstGeom prst="rect">
            <a:avLst/>
          </a:prstGeom>
        </p:spPr>
        <p:txBody>
          <a:bodyPr vert="horz" wrap="square" lIns="91440" tIns="45720" rIns="91440" bIns="45720" rtlCol="0">
            <a:normAutofit fontScale="700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800"/>
              <a:t>GitHub Repository:</a:t>
            </a:r>
            <a:endParaRPr lang="en-GB" sz="2000" dirty="0"/>
          </a:p>
          <a:p>
            <a:r>
              <a:rPr sz="1800"/>
              <a:t>https://github.com/viku123-lol/seasonal-agriculture-performance-analysis</a:t>
            </a:r>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77629A1D-0D10-2D73-AA1A-1D8E26250F70}"/>
              </a:ext>
            </a:extLst>
          </p:cNvPr>
          <p:cNvPicPr>
            <a:picLocks noChangeAspect="1"/>
          </p:cNvPicPr>
          <p:nvPr/>
        </p:nvPicPr>
        <p:blipFill>
          <a:blip r:embed="rId3"/>
          <a:stretch>
            <a:fillRect/>
          </a:stretch>
        </p:blipFill>
        <p:spPr>
          <a:xfrm>
            <a:off x="484671" y="1603878"/>
            <a:ext cx="8351693" cy="466915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5030104" y="1368694"/>
            <a:ext cx="2139696" cy="344312"/>
          </a:xfrm>
        </p:spPr>
        <p:txBody>
          <a:bodyPr vert="horz" lIns="91440" tIns="45720" rIns="91440" bIns="45720" rtlCol="0" anchor="t">
            <a:normAutofit fontScale="92500" lnSpcReduction="20000"/>
          </a:bodyPr>
          <a:lstStyle/>
          <a:p>
            <a:r>
              <a:rPr lang="en-IN"/>
              <a:t>Vikash Chauhan</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556</TotalTime>
  <Words>71</Words>
  <Application>Microsoft Office PowerPoint</Application>
  <PresentationFormat>Widescreen</PresentationFormat>
  <Paragraphs>18</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Seasonal Agriculture Performance Analysis</vt:lpstr>
      <vt:lpstr>PROBLEM  STATEMENT</vt:lpstr>
      <vt:lpstr>Project Description  This project analysis 4000 farm-level agricultural records across 8 Indian states, 8 crops, and 3 seasons (Kharif, Rabi, and Zaid). The analysis examines key performance indicators such as yield, production, revenue, profit, ROI, water usage, and water efficiency. Using Python libraries including Pandas, NumPy, Matplotlib, Seaborn the project performs the project performs data cleaning, exploratory data analysis, statistical analysis, seasonal comparison and correlation analysis to identify meaningful patterns, relationships, and seasonal differences. The findings are used to generate  data-driven insights and recommendations for improved agricultural planning and resource management.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327</cp:revision>
  <dcterms:created xsi:type="dcterms:W3CDTF">2021-07-11T13:13:15Z</dcterms:created>
  <dcterms:modified xsi:type="dcterms:W3CDTF">2026-09-10T07:18:29Z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